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6EBF6"/>
                </a:solidFill>
                <a:latin typeface="Calibri"/>
                <a:ea typeface="Calibri"/>
              </a:rPr>
              <a:t>ENGINEER BRIEFING  ·  SDV  ·  DSC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F4F6FB"/>
                </a:solidFill>
                <a:latin typeface="Calibri"/>
                <a:ea typeface="Calibri"/>
              </a:rPr>
              <a:t>ML, deep learning, and
generative AI on a display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E6EBF6"/>
                </a:solidFill>
                <a:latin typeface="Calibri"/>
                <a:ea typeface="Calibri"/>
              </a:rPr>
              <a:t>Quality engineers at SDV and DSC  ·  not AI researchers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B7C4E0"/>
                </a:solidFill>
                <a:latin typeface="Calibri"/>
                <a:ea typeface="Calibri"/>
              </a:rPr>
              <a:t>Local Large Language Models (LLMs) on site: Qwen  ·  Kimi  ·  GLM. Public chatbots are the wrong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00  / 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Who this is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Quality engineers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Incoming, in-process, Outgoing Quality Control (OQC), claims, Eight Disciplines (8D), Nonconformance Report (NCR). You own the class, the number, and the signature.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Engineers, not AI specialists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You read a control chart and a Standard Operating Procedure (SOP). You will not be asked to explain back-propagation.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SDV and DSC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Vietnam and China. Korean SOP, local shop cards. Same rules on both sites.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  / 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00  / 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Three jobs, in plain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Rules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If Critical Dimension (CD) is over spec, hold the lot. Interlocks, recipes, Statistical Process Control (SPC). A chatbot does not override an interlock.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Scoring AI (ML / DL)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Machine Learning / Deep Learning. A class or a number. Automated Optical Inspection (AOI) and Fault Detection and Classification (FDC). System of record for pass/fail.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Drafting AI (generative)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Writes what did not exist: 8D shell, translation, hypotheses. Qwen, Kimi, GLM. A human still signs.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The split that matters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A score is not a sentence. A fluent sentence is not a fact. A local Large Language Model (LLM) is not a public chatbot.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3  / 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00  / 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Acronyms — line and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53212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Forms and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Process and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0292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8D — Eight Disciplines (claim / NCR form).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NCR — Nonconformance Report.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AOI — Automated Optical Inspection.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FDC — Fault Detection and Classification.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SOP — Standard Operating Procedure.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MES — Manufacturing Execution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6596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SPC — Statistical Process Control.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PLC — Programmable Logic Controller.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CD — Critical Dimension (gauge, not a caption).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OQC — Outgoing Quality Control.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ppm — parts per million.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DOE — Design of Experiments.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PdM — Predictive Maintenance.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FMEA — Failure Mode and Effects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4  / 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00  / 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Acronyms —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53212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0292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ML — Machine Learning. Scores a repeating signal.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DL — Deep Learning. Sees images and traces.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LLM — Large Language Model. Qwen, Kimi, GLM on site.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RAG — Retrieval-Augmented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6596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L0 — Rules and automation. No learning.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L1 — Classical ML. Tables, traces, scores.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L2 — Deep learning. Production class on a photo.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L3 — Generative AI. Drafts. Not a gauge.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L4 — Agent. Calls tools. Human signs.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5  / 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01  /  CAN AND CANNOT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What AI can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Score a repeating defect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Automated Optical Inspection (AOI) with your mura library. A trained job, not a chat.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Flag a walking tool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Fault Detection and Classification (FDC) learns a healthy envelope. Often still inside spec.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Rank scarce hours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Which ten lots to re-inspect. A queue, not a verdict.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Draft after the score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8D shell or translation once the log or AOI exists. Draft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6  / 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01  /  CAN AND CANNOT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What AI cannot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Replace an interlock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If CD &gt; spec, hold the lot. The model has no vote on a running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Stay right after change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Last year’s stack silently rots after lighting, material, or recipe move.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Sign to the customer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A named engineer owns ppm, date, containment. The model does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Invent a limit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If it is not in SOP, MES, or a gauge, it is a guess in your font.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7  / 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01  /  CAN AND CANNOT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What generative AI can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Write 8D D1–D3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8D = Eight Disciplines. From a log and SOP excerpt. You fill D4–D8 from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Alarms → hypotheses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Three causes, each with a check. You kill the weak 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Translate a shop card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Freeze every number, unit, tool ID, revision.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Caption a photo as a hypothesis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Likely class and why. Production class still comes from AOI.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8  / 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01  /  CAN AND CANNOT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What generative AI cannot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Production pass / fail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That is AOI. Gold labels. Overkill vs escape is your threshold.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Read CD off a caption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Pretty text is not metrology. Numbers come from the instrument.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Close change control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A fluent DOE is still a process change when you run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Keep a claim safe on a public bot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Even “just to try.” Local Qwen / Kimi / GLM only. If down, wait.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9  / 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01  /  CAN AND CANNOT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Quality desk — one line 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Panel pass / fail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Scoring AI: can, if AOI is trained. Generative: cannot. Caption is a hypothesis.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8D first draft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Scoring AI: cannot write the story. Generative: D1–D3 only. You own D4–D8.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Customer ppm or date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Only from MES or a real model. Generative leaves a blank.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Recipe or spec change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Neither kind of AI approves. Change control stays human.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10  / 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00  / 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Start. Can and cannot. Scoring AI versus generative AI.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Map, machine learning, deep learning — how each layer works.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Trends, the line, playbook, rules.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Local LLM last: Qwen, Kimi, GLM. Not a public chatbot.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11  / 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01  / 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Eight beats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17904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02  Map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ML, DL, generative AI. 8D is a form. L0–L4 is the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517904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03  Machine learning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Scores a repeating signal: FDC, yield, PdM.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17904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04  Deep learning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Sees the panel: AOI, gold labels, escape vs overkill.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371600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8008" y="1517904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05  Generative AI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Writes what did not exist: drafts, RAG, agents.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31336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977640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06  2026 trends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Agents, multimodal, RAG, governance.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831336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3977640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07  On the line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Where each layer attaches. Three public cases.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31336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977640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08  Playbook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Prompts you can run this week.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831336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3977640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09  Guardrails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Fluent is not true. Sign-off sits on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12  / 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02  / 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Wrong tool wastes time and creates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You already use AI: SPC, FDC, AOI classifiers. Those score a repeating signal.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Generative AI does a different job: language, images, code, candidate structures.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Agentic systems sit on top and call tools. They do not own the recipe.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Detect versus draft. Score versus explain. Model ops versus a prompt plus a reviewer.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13  / 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02  / 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The stack on a display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73968" cy="841248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43A8C"/>
                </a:solidFill>
                <a:latin typeface="Calibri"/>
                <a:ea typeface="Calibri"/>
              </a:rPr>
              <a:t>L0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99616"/>
            <a:ext cx="9601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141820"/>
                </a:solidFill>
                <a:latin typeface="Calibri"/>
                <a:ea typeface="Calibri"/>
              </a:rPr>
              <a:t>Rules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No learning. Interlocks, recipes, SPC, PLC. Last word on a running tool.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04288"/>
            <a:ext cx="11173968" cy="841248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0545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43A8C"/>
                </a:solidFill>
                <a:latin typeface="Calibri"/>
                <a:ea typeface="Calibri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32304"/>
            <a:ext cx="9601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141820"/>
                </a:solidFill>
                <a:latin typeface="Calibri"/>
                <a:ea typeface="Calibri"/>
              </a:rPr>
              <a:t>Classical ML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Tabular models on sensors and yield. Score or flag, not a paragraph. FDC, PdM.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36976"/>
            <a:ext cx="11173968" cy="841248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3814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43A8C"/>
                </a:solidFill>
                <a:latin typeface="Calibri"/>
                <a:ea typeface="Calibri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64992"/>
            <a:ext cx="9601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141820"/>
                </a:solidFill>
                <a:latin typeface="Calibri"/>
                <a:ea typeface="Calibri"/>
              </a:rPr>
              <a:t>Deep learning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Nets on images and traces. Production class: AOI for mura, particle, scratch.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69664"/>
            <a:ext cx="11173968" cy="841248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7083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43A8C"/>
                </a:solidFill>
                <a:latin typeface="Calibri"/>
                <a:ea typeface="Calibri"/>
              </a:rP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97680"/>
            <a:ext cx="9601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141820"/>
                </a:solidFill>
                <a:latin typeface="Calibri"/>
                <a:ea typeface="Calibri"/>
              </a:rPr>
              <a:t>Generative AI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Creates text, code, images. Drafts 8D D1–D3. Not a gauge.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102352"/>
            <a:ext cx="11173968" cy="841248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035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43A8C"/>
                </a:solidFill>
                <a:latin typeface="Calibri"/>
                <a:ea typeface="Calibri"/>
              </a:rP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230368"/>
            <a:ext cx="9601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141820"/>
                </a:solidFill>
                <a:latin typeface="Calibri"/>
                <a:ea typeface="Calibri"/>
              </a:rPr>
              <a:t>Agentic AI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Plans and calls tools. Read-only first. Human signs the change.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14  / 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02  / 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8D is a form, not a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99616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D1 Team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Who owns the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53312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499616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D2 Problem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What failed, where, how many. From MES, AOI, or the claim.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53312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99616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D3 Containment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What we hold now. Dates and lots from the log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353312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8008" y="1499616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D4 Root cause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Why. Needs data. The model does not invent this.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13048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959352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D5 Corrective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What will fix this lot or this cause.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813048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3959352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D6 Implement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Run it. Change control if the process moves.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13048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959352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D7 Prevent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So it does not come 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813048"/>
            <a:ext cx="267004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3959352"/>
            <a:ext cx="230428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D8 Close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File and sign. A named engineer. GenAI drafts D1–D3 only.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15  / 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02  / 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Side by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53212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ML / 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Generative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0292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Classify, detect, predict, rank.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Output: label, score, box, remaining life.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Needs labeled line data. Retrain on drift.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Today: AOI, FDC, yield, virtual metrology, PdM.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Fails as false calls, missed defects, silent drift.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6596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Draft, explain, translate, design options.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Output: text, image, code, candidate molecule.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Needs documents, examples, tools. Ground it.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Today: SOP Q&amp;A, 8D, code, virtual CD, materials.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Fails as hallucination and leakage.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16  / 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02  / 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One defect, every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73968" cy="82296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6FB"/>
                </a:solidFill>
                <a:latin typeface="Calibri"/>
                <a:ea typeface="Calibri"/>
              </a:rPr>
              <a:t>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09344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1820"/>
                </a:solidFill>
                <a:latin typeface="Calibri"/>
                <a:ea typeface="Calibri"/>
              </a:rPr>
              <a:t>AOI flags the mura cluster on lots from chamber 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11173968" cy="82296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6FB"/>
                </a:solidFill>
                <a:latin typeface="Calibri"/>
                <a:ea typeface="Calibri"/>
              </a:rPr>
              <a:t>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23744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1820"/>
                </a:solidFill>
                <a:latin typeface="Calibri"/>
                <a:ea typeface="Calibri"/>
              </a:rPr>
              <a:t>FDC shows a slow walk in a deposition sensor — in spec, out of envelope.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11173968" cy="82296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401568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5643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6FB"/>
                </a:solidFill>
                <a:latin typeface="Calibri"/>
                <a:ea typeface="Calibri"/>
              </a:rPr>
              <a:t>GenAI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438144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1820"/>
                </a:solidFill>
                <a:latin typeface="Calibri"/>
                <a:ea typeface="Calibri"/>
              </a:rPr>
              <a:t>LLM drafts three 5-why hypotheses from alarms + SOP. Still a draft.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11173968" cy="82296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4315968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7083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6FB"/>
                </a:solidFill>
                <a:latin typeface="Calibri"/>
                <a:ea typeface="Calibri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52544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1820"/>
                </a:solidFill>
                <a:latin typeface="Calibri"/>
                <a:ea typeface="Calibri"/>
              </a:rPr>
              <a:t>Pulls last 20 lots, overlays the map, lists DOE factors. No recipe write.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173968" cy="82296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230368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8523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6FB"/>
                </a:solidFill>
                <a:latin typeface="Calibri"/>
                <a:ea typeface="Calibri"/>
              </a:rPr>
              <a:t>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266944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1820"/>
                </a:solidFill>
                <a:latin typeface="Calibri"/>
                <a:ea typeface="Calibri"/>
              </a:rPr>
              <a:t>Kill weak hypotheses. Open change control. AI never bypasses the path.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17  / 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02  / 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Which one should I use?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Repeating signal → score or class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Use ML / DL. Inspection images, traces, yield tables. Train, validate, watch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First draft, explanation, translation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Use generative AI. Then a human checks facts, numbers, and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Detect, then explain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Both, in that order. DL finds the defect. GenAI writes the deviation. Do not swap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Next step is a tool call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Agent on a leash. Pull lots, plot, search. Not allowed to touch the recipe.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18  / 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03  / 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ML scores a repeating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You do not write “if pressure &gt; X then alarm.” You show healthy traces and bad traces.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Three questions: What is the input? What is the output? How do we know it survives a recipe change?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Deep learning is a kind of ML for raw images and sequences. This layer is tables, traces, scores.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If it cannot beat last-week average on a held-out week, you added a black box for no 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19  / 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03  / 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Four jobs — name the job before the vendor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Classification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Pass/fail, mura vs particle, vendor risk. The argument is overkill versus escape.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Regression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Predict CD, luminance, yield, remaining life. Must beat a simple average.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Anomaly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Healthy envelope. FDC on deposition. Threshold too tight → alarm flood.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Ranking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Order lots by risk so scarce PE/QC hours go to the top of the list.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20  / 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03  / 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How you know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53212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On the line at SDV / DSC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0292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Train / validate / test — test on a week the model never saw, after a PM if you can.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Precision = of the alarms, how many were real.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Recall = of the real defects, how many we caught.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You choose the overkill–escape point. The model does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6596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Watch score distribution, not only a green dashboard.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Retrain is a process: stack, lighting, part, vendor change.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Gold labels: two engineers should agree on the same lot.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ML is not for 8Ds, SOP translation, or invented specs.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21  / 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04  / 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Deep learning sees the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Classical ML wants columns you already understand. DL starts from pixels and waveforms.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Main display job: AOI — mura, particle, scratch, stain, dead pixel.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Someone has to label thousands of defects. The net is only as honest as that library.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A lighting, camera, or product change can quietly ruin a model that still looks “99% accurate.”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22  / 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04  / 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Why AOI models fail in quiet 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Gold labels are the product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If two engineers disagree on mura vs stain, the net learns the disagreement.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Class imbalance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Always-pass is 99% accurate and useless. Report escape and overkill, not headline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Domain shift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New stack, glass, lighting, camera, product. Treat a ramp as a retrain trigger.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Heatmaps are not metrology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They debug the model. They do not close an 8D. Captions are not CD.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23  / 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04  / 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Public case — SDV setup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Equipment setup used to mean a person measuring on the tool — picker-to-panel, for example.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Published software: capture the scene on a mobile device. Vision finds the region and returns distance.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Result (public): 2 min 30 sec → 10 sec. Fewer manual errors, fewer bodies near moving parts.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This is ML / computer vision. It is not a chatbot describing the photo.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24  / 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05  / 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Generative AI writes what did not exist yet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A classifier answers “which class?” A generative model answers “what comes next?”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It is paid to finish your prompt. Fluency is the product. Truth is your job.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Honest uses: drafts, translation, code, virtual images, material search.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Never a replacement for AOI or FDC. Never a gauge.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25  / 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05  / 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Tokens, RAG,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Tokens, not thoughts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Next-token prediction. A confident paragraph can still be a chain of likely 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Hallucination is normal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It will quote a limit you never pasted. Every number is guilty until SOP / MES / gauge.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RAG first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Search approved SOP, then write from those passages. Stale index = last quarter’s limit, fluently.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Agents on a leash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Plan, call search/SQL/plot. Read-only tools. Log every call. No recipe write.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26  / 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05  / 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A prompt is a work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53212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Anatomy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On the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0292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Role — “display process engineer.” Sets jargon, not security.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Evidence — paste the log, SOP excerpt, schema.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Constraints — freeze units. Ban invented part numbers.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Shape — three hypotheses each with a check. D1–D3 only. A table, not an essay.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6596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SDV and DSC can share one SOP only if 2.50 mm stays 2.50 mm, not 2.5.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Production class still comes from AOI, not from a caption.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Virtual CD images still have to agree with a golden gauge.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Code: paste schema, read the script, run on a copy.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27  / 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06  /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Copilots were last year. Agents are this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2023–24 was chat in a browser. 2026 is photo + SOP search + script + next measurement.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RSM 2026: 79% of manufacturing respondents already using generative AI.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Samsung Electronics (1 Mar 2026): AI-driven factories by 2030 — twins, agents, robotics.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The gap is no longer access. It is judgment: what the model may see, and who signs.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28  / 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06  /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What 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Agentic AI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“Pull last week’s mura lots on line 2, group by chamber, draft the DOE.” You still approve.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Multimodal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Defect photo + spec snippet in one prompt. Caption is a hypothesis, not metrology.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RAG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Cite current KO SOP and VI/ZH shop card with revision IDs. Index freshness is a process job.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Governance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Allow-lists, audit logs, data residency. Public models get public knowledge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29  / 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07  / 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Where each layer attaches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7396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3492"/>
                <a:gridCol w="2793492"/>
                <a:gridCol w="2793492"/>
                <a:gridCol w="2793492"/>
              </a:tblGrid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6FB"/>
                          </a:solidFill>
                          <a:latin typeface="Calibri"/>
                          <a:ea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43A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6FB"/>
                          </a:solidFill>
                          <a:latin typeface="Calibri"/>
                          <a:ea typeface="Calibri"/>
                        </a:rPr>
                        <a:t>ML / DL</a:t>
                      </a:r>
                    </a:p>
                  </a:txBody>
                  <a:tcPr>
                    <a:solidFill>
                      <a:srgbClr val="143A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6FB"/>
                          </a:solidFill>
                          <a:latin typeface="Calibri"/>
                          <a:ea typeface="Calibri"/>
                        </a:rPr>
                        <a:t>Generative</a:t>
                      </a:r>
                    </a:p>
                  </a:txBody>
                  <a:tcPr>
                    <a:solidFill>
                      <a:srgbClr val="143A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6FB"/>
                          </a:solidFill>
                          <a:latin typeface="Calibri"/>
                          <a:ea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143A8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TFT / CD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Overlay &amp; CD models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Virtual CD image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DOE from scrap clusters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Deposition</a:t>
                      </a:r>
                    </a:p>
                  </a:txBody>
                  <a:tcPr>
                    <a:solidFill>
                      <a:srgbClr val="F3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Rate / uniformity / FDC</a:t>
                      </a:r>
                    </a:p>
                  </a:txBody>
                  <a:tcPr>
                    <a:solidFill>
                      <a:srgbClr val="F3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Shift report, material search</a:t>
                      </a:r>
                    </a:p>
                  </a:txBody>
                  <a:tcPr>
                    <a:solidFill>
                      <a:srgbClr val="F3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Golden-week compare</a:t>
                      </a:r>
                    </a:p>
                  </a:txBody>
                  <a:tcPr>
                    <a:solidFill>
                      <a:srgbClr val="F3F1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AOI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Defect classifier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8D draft from image + log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Like-defect pack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Equipment</a:t>
                      </a:r>
                    </a:p>
                  </a:txBody>
                  <a:tcPr>
                    <a:solidFill>
                      <a:srgbClr val="F3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PdM, FDC</a:t>
                      </a:r>
                    </a:p>
                  </a:txBody>
                  <a:tcPr>
                    <a:solidFill>
                      <a:srgbClr val="F3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Work order from alarms</a:t>
                      </a:r>
                    </a:p>
                  </a:txBody>
                  <a:tcPr>
                    <a:solidFill>
                      <a:srgbClr val="F3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PM vs production calendar</a:t>
                      </a:r>
                    </a:p>
                  </a:txBody>
                  <a:tcPr>
                    <a:solidFill>
                      <a:srgbClr val="F3F1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Documents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SOP Q&amp;A, translation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20"/>
                          </a:solidFill>
                          <a:latin typeface="Calibri"/>
                          <a:ea typeface="Calibri"/>
                        </a:rPr>
                        <a:t>Cite current revision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30  / 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07  / 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Three public Samsung Display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614928" cy="475488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00784"/>
            <a:ext cx="3249168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SDV · measurement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Vision setup measurement. 2:30 → 10 s. ML / computer vision. Know this one at SDV.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2440" y="1554480"/>
            <a:ext cx="3614928" cy="475488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3608" y="1700784"/>
            <a:ext cx="3249168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R&amp;D · CD, 2023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Neural style transfer: layout + real photo → virtual image for electrode CD. Still needs a golden gauge.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1960" y="1554480"/>
            <a:ext cx="3614928" cy="475488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3128" y="1700784"/>
            <a:ext cx="3249168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R&amp;D · materials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Generate / predict / synthesizable loop. Millions of OLED candidates. Screening still ends in a lab.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31  / 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08  / 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By role, this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Process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Night of alarms → three hypotheses with checks. DOE one-pager from a defect trend.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Equipment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Alarm code → manual section + first five checks. Work order from a thread.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Quality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8D / 5-why shells. Photo as a hypothesis, not the official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PE / IE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Python for daily yield and 3σ lots. SQL on an extract, never prod write.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32  / 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08  / 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Weak prompt, better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532120" cy="4800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43A8C"/>
                </a:solidFill>
                <a:latin typeface="Calibri"/>
                <a:ea typeface="Calibri"/>
              </a:rPr>
              <a:t>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0292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“Why is yield down?”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“Write an 8D for this.”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“Translate this SOP.”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6596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Line 2 module −2.1 pp, 10–17 Aug, mura zone C, chamber B. Three hypotheses + a check. Do not invent a spec.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Draft D1–D3 only from this log and SOP. Quote the revision. Leave D4–D8 as questions.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820"/>
                </a:solidFill>
                <a:latin typeface="Calibri"/>
                <a:ea typeface="Calibri"/>
              </a:rPr>
              <a:t>•  Shop-floor Vietnamese. Freeze every number and unit. Keep tool IDs in English. List unsure terms.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33  / 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08  / 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Do not paste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Unreleased stack, recipe, or CD numbers into a public model.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Customer names, device codes, or complaint files that identify a brand.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Full database extracts with operator IDs.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Anything you would not put in an email to a vendor.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Use the company-approved assistant. English often helps code; local language helps shop-floor SOP.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34  / 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09  / 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Fluent is not the same as true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Hallucination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Invented limit or “last time we did this.” Every customer-facing number needs SOP / MES / gauge.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Leakage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Public chat logs are not your archive. A screenshot of a recipe is still a recipe.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Drift (ML/DL)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Last year’s mura library silently rots after a stack or lighting change. Owners + gold 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Skipping change control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A plausible DOE is still a process change when you run it. Read-only by default.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35  / 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09  / 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The sign-off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AI may draft. It may not release.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If a number can scrap a lot or reach a customer, a named engineer confirms it against a system of record.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Your advantage is not typing speed. It is knowing what the chamber did at 3 a.m. and which SOP is in force.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Find the allowed tool. Pilot one repeating draft. Share one good prompt and one that invented a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36  / 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10  /  LOCAL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Qwen, Kimi, GLM — not a public chatbot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Qwen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Default general assistant. Multilingual, code, tables. 8D shells and KO/ZH/VI/EN drafts.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63624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Kimi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Long context. Full SOP, a week of logs, a claim pack. Cite the revision, then cut.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GLM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Strong Chinese. Natural at DSC. Shop cards and ZH SOP with frozen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77056"/>
            <a:ext cx="5504688" cy="2295144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23360"/>
            <a:ext cx="51389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3A8C"/>
                </a:solidFill>
                <a:latin typeface="Calibri"/>
                <a:ea typeface="Calibri"/>
              </a:rPr>
              <a:t>Still true locally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  <a:ea typeface="Calibri"/>
              </a:rPr>
              <a:t>Hallucination does not go away. Local means the text stays inside. Not that it is true.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37  / 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43A8C"/>
                </a:solidFill>
                <a:latin typeface="Calibri"/>
                <a:ea typeface="Calibri"/>
              </a:rPr>
              <a:t>10  /  LOCAL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1820"/>
                </a:solidFill>
                <a:latin typeface="Calibri"/>
                <a:ea typeface="Calibri"/>
              </a:rPr>
              <a:t>Which model, after you know the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Short 8D D1–D3: Qwen or GLM. Long SOP or claim pack: Kimi.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Chinese shop card: GLM. KO → VI short SOP: Qwen. Freeze 2.50 mm.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Anything with a customer name: local only. If the local tool is down, wait.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41820"/>
                </a:solidFill>
                <a:latin typeface="Calibri"/>
                <a:ea typeface="Calibri"/>
              </a:rPr>
              <a:t>•  Do not dump a full MES extract. Do not ask for production pass/fail. Do not fall back to a public chatbot.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Display AI  ·  SDV  ·  DSC  ·  Engineer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09A"/>
                </a:solidFill>
                <a:latin typeface="Calibri"/>
                <a:ea typeface="Calibri"/>
              </a:rPr>
              <a:t>38  / 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6EBF6"/>
                </a:solidFill>
                <a:latin typeface="Calibri"/>
                <a:ea typeface="Calibri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F4F6FB"/>
                </a:solidFill>
                <a:latin typeface="Calibri"/>
                <a:ea typeface="Calibri"/>
              </a:rPr>
              <a:t>The line does not need more enthusiasm for AI.
It needs engineers who can tell a classifier
from a paragraph.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09160"/>
            <a:ext cx="5029200" cy="1234440"/>
          </a:xfrm>
          <a:prstGeom prst="roundRect">
            <a:avLst>
              <a:gd name="adj" fmla="val 8000"/>
            </a:avLst>
          </a:prstGeom>
          <a:solidFill>
            <a:srgbClr val="1C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470916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1C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920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F4F6FB"/>
                </a:solidFill>
                <a:latin typeface="Calibri"/>
                <a:ea typeface="Calibri"/>
              </a:rPr>
              <a:t>SDV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6EBF6"/>
                </a:solidFill>
                <a:latin typeface="Calibri"/>
                <a:ea typeface="Calibri"/>
              </a:rPr>
              <a:t>Vietnam  ·  local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892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F4F6FB"/>
                </a:solidFill>
                <a:latin typeface="Calibri"/>
                <a:ea typeface="Calibri"/>
              </a:rPr>
              <a:t>DSC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6EBF6"/>
                </a:solidFill>
                <a:latin typeface="Calibri"/>
                <a:ea typeface="Calibri"/>
              </a:rPr>
              <a:t>China  ·  local engineers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